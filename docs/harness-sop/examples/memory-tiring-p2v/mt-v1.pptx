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Microsoft YaHei"/>
              </a:rPr>
              <a:t>内存分层方向 · Proxmox VE 如何超越 VMware vSphere</a:t>
            </a:r>
          </a:p>
          <a:p>
            <a:r>
              <a:rPr sz="1700" b="0">
                <a:solidFill>
                  <a:srgbClr val="C7D2FE"/>
                </a:solidFill>
                <a:latin typeface="Microsoft YaHei"/>
              </a:rPr>
              <a:t>对标分析与业务/技术规划 · v4（经两轮共 7 路 reviewer 对抗式评审）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Microsoft YaHei"/>
              </a:rPr>
              <a:t>由 competitive-analysis SOP 生成；第二轮评审全部用与主 agent 一致的 Claude Fable 5</a:t>
            </a:r>
          </a:p>
          <a:p>
            <a:r>
              <a:rPr sz="1300" b="0">
                <a:solidFill>
                  <a:srgbClr val="E2E8F0"/>
                </a:solidFill>
                <a:latin typeface="Microsoft YaHei"/>
              </a:rPr>
              <a:t>检索免密钥（keyless）· 事实 [n] 引注 · 估算显式标注 · 机制主张经 v6.14 内核源码核验</a:t>
            </a:r>
          </a:p>
          <a:p>
            <a:r>
              <a:rPr sz="1300" b="0">
                <a:solidFill>
                  <a:srgbClr val="E2E8F0"/>
                </a:solidFill>
                <a:latin typeface="Microsoft YaHei"/>
              </a:rPr>
              <a:t>对标代次：Proxmox VE 9.2（内核 7.0）对 VMware vSphere / ESXi 9.x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这套 harness SOP 是什么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以价值兑现为主线，把本仓库能力编排成决策级对标分析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</a:rPr>
              <a:t>• 问题范式：结合学术热点，针对 YYY 对标 ZZZ，产出差距分析、行动 roadmap、最优价值 MVP 架构、价值兑现（FAB / 客户语言 / 控标）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</a:rPr>
              <a:t>• 价值主线：阶段零钉“价值假设卡”，每个产物向后溯到目标与真实证据、向前抵达客户价值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</a:rPr>
              <a:t>• 全资产参与（质量原则）：集成资产每次都要用——主线用不上也进“对拍/校验”；子代理与其它 LLM 用与主 agent 一致的配置；安装一律本地绿色（venv，无 sudo）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Microsoft YaHei"/>
              </a:rPr>
              <a:t>• 建立在本项目之上：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</a:rPr>
              <a:t>– storm-research / run_storm_claude / knowledge_storm（无授权检索）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icrosoft YaHei"/>
              </a:rPr>
              <a:t>– grilling / grill-with-docs / domain-modeling；report-authoring + docs/authoring；vendor/reverse-skill；scholar-slides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SOP 七阶段与质量门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每阶段 DoD；高价值对标用多 reviewer 对拍（本例用了 7 路）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640079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597"/>
                <a:gridCol w="2893512"/>
                <a:gridCol w="201669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价值问题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承载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零 价值假设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兑现什么价值/为谁/如何量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grilling / domain-modeling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一 范围界定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哪个战场/哪些维度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grilling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二 调研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有哪些可核验证据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storm-research（无授权）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三 差距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哪些差距真正卡价值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report-authoring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四 价值筛选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什么顺序最快兑现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价值密度 + 里程碑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五 MVP 架构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哪个最小切片价值最高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架构/部署图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六 价值兑现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如何转成可感知/可买单/可控标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FAB / 客户语言 / 控标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七 成文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结论能否支撑“如何超越”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report-authoring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0880" y="1234440"/>
            <a:ext cx="47548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质量门（DoD）要点：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</a:rPr>
              <a:t>– ≥3 具名买家段+JTBD；买家货币口径数字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</a:rPr>
              <a:t>– 控标给“条款语言”；MVP 配可证伪假设+kill-gate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</a:rPr>
              <a:t>– 机制主张对一手源核验、代次对齐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</a:rPr>
              <a:t>– 结论回答“如何超越”+业务/技术规划+投资建议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元教训：一次“修正”也可能引入新错（v3 之于 v2）→ 高价值结论再核验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案例：目标、意图与价值假设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XXX=内存分层 · YYY=Proxmox VE · ZZZ=VMware vSphere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563"/>
                <a:gridCol w="9072676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要素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目标与意图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回答 Proxmox 如何在内存分层超越 VMware，给业务/技术规划，支撑投资决策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受益者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Broadcom 迁移难民 · CSP/托管 · 公共部门/信创（限定）· 边缘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价值主张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把内核已有的主动分层机制产品化（集成/按 VM/护栏/迁移感知）；以开源自主可控 + 无按核授权 TCO 建立结构性差异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度量口径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icrosoft YaHei"/>
                        </a:rPr>
                        <a:t>分 NVMe-swap 与 CXL-NUMA 两通路给指标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价值主线：后续每节都要追溯回这张卡。术语见 CONTEXT.md，关键决策见 docs/adr/。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机制真相与代次校准（v4 关键纠正）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两条通路都有主动机制；区别在可寻址性，不在“主动/被动”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567"/>
                <a:gridCol w="5640592"/>
                <a:gridCol w="3688079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慢层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Linux 机制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关键点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NVMe（swap）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DAMON_RECLAIM(5.16) / DAMOS pageout（memcg 可过滤）/ memory.reclaim [16]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主动逐冷到 swap；访问需主缺页换入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CXL/PMem（NUMA）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TPP 降级/提升、DAMON 迁移（paddr）[5][16]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页保持字节可寻址，访问不缺页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7472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VMware Memory Tiering over NVMe 是“recency+frequency、4 KB、访问 page-in” [1]——与 DAMON(paddr)+DAMOS pageout 同一类机制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结论纠正：NVMe 上不是“机制差距”，而是产品化/集成差距（默认/按 VM/DRS 放置/迁移/GUI）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代次：以 PVE 9.2（内核 7.0）对 vSphere 9.x [19]；DAMON 迁移 6.14 仅 paddr、vaddr 要 6.17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v4 纠正 v3：v3 误判“NVMe=机制差距”，内核源码证明主动逐冷早已存在（Meta TMO 生产验证 [17]）。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学术热点与生产级证据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用户线索经独立核验：OSDI '26 与 RamRyder/MAC/MDK 可查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702"/>
                <a:gridCol w="8187537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来源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RamRyder / MAC / MDK（已核验）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带宽≠容量(加权交织非冷页下沉) / 元数据勿入慢层 / SLO 下省内存→DAMOS some_mem_psi_us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OBASE / NEMO（命名存疑）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概念可溯：对象级布局(远期) / 低开销 MC 观测 [22]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Equilibria / Memstrata [20][21]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CXL 分层的多租户与虚拟化环境系统研究——回应 KVM guest 无实测 之虑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TMO（Meta, ASPLOS'22）[17]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F172A"/>
                          </a:solidFill>
                          <a:latin typeface="Microsoft YaHei"/>
                        </a:rPr>
                        <a:t>机群规模 PSI 主动 offload 冷页到 swap——NVMe 主动分层是成熟做法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原则：用户提供的是线索，经独立检索核验后再用；不能核验的命名标存疑，不据以下结论。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内核视角：历史 / 现状 / 演进 / 预测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内存管理绝大部分来自内核；但“骑上游”是所有 KVM 同类共享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历史：降级由 Intel 提交(Dave Hansen 5.15)、提升(Huang Ying 6.1)；“TPP”是 Meta 论文命名；DAMON/DAMON_RECLAIM 5.15/5.16 [16]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现状(2026-09 [12])：加权交织(6.9)、DAMON 迁移 paddr(6.11)、DAMOS 目标+自调优(6.16)、DAMON 迁移 vaddr(6.17)；在研 pghot、分层感知 memcg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演进/预测：自调优 + 按 VM(分层感知 memcg) + CXL 更细治理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结构性含义：主动机制两通路都具备且快速演进；VMware 与 Proxmox 都在“整合”阶段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警示：“骑内核上游”对 KVM 同类零差异（Red Hat 雇着写 DAMON/TPP 的维护者）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差距分析：差在产品化，不在引擎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PVE 9.2（内核 7.0）对 vSphere 9.x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2999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592"/>
                <a:gridCol w="3883980"/>
                <a:gridCol w="3773009"/>
                <a:gridCol w="2219417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Proxmox VE 9.2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VMware vSphere 9.x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差距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主动分层机制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有（NVMe: DAMOS pageout；CXL: TPP/DAMON）[16]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有（NVMe 主动，1:1/4TB）[1]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同类，非差距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产品化/集成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需手工拼装，无 GUI [5]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内建+默认护栏+GUI [1]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核心差距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按 VM 策略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DAMOS paddr+memcg 过滤到 qemu.slice/&lt;vmid&gt;.scope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平台级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差在产品面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迁移/HA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迁移需换入慢层页；缺分层感知放置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vMotion 慢 1.5–2×；DRS 分层放置 [1][18]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VMware 优势=DRS 放置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大页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THP 整迁/-ENOMEM 拆；hugetlb 排除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启用即每 VM 关大页/4KB [18]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双方都牺牲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成本/授权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开源 AGPLv3、无按核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商业订阅 [13]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Proxmox 结构性顺风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一句话：差距在“整合成品”，不在“分层引擎”。（v4 纠正 v3 的“机制差距”判断）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如何超越：产品化 + 结构性护城河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不造/换引擎；CXL 作期权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① 把内核已有主动机制产品化：集成、按 VM(DAMOS pageout+memcg)、护栏、迁移/HA 感知——贴内核快速补齐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② 结构性护城河（VMware 难复制的只有两条）：开源/AGPL（可审计/可 fork/无锁定）+ 无按核授权 TCO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③ CXL = 时机领先，非结构性：VMware 架构可纳入 CXL；CXL $/GB ≥ DIMM，DRAM 涨价同抬 → 不接 why-now 成本论；作期权随内核推进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why-now（只对 NVMe/现有通路）：Broadcom 迁移潮 [13] + DRAM 涨价 [9][10]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Microsoft YaHei"/>
              </a:rPr>
              <a:t>• 对手：Nutanix / OpenShift Virt / Harvester（KVM）、XCP-ng（Xen）、国产 HCI（华为/浪潮/H3C/ZStack/SmartX/深信服）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行动路线与最优价值 MVP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MVP=产品化内核机制；集成点经源码核验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64007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243"/>
                <a:gridCol w="3084722"/>
                <a:gridCol w="1850833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里程碑(自 2026-10)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门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M1 (2月)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按 VM DAMOS pageout+memcg+GUI+护栏（NVMe）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对 ESXi(E) P99≤+15%、密度≥+50%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M1 并行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迁移/HA 分层感知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迁移≤2×基线；HA 切非慢层节点安全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M2 (3月)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分层感知集群放置（DRS 式）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集群密度可测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M3 (4月)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CXL 原生分层（随内核）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Microsoft YaHei"/>
                        </a:rPr>
                        <a:t>有 CXL 硬件伙伴验证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123444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• 集成点（已核验修正）：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– PVE::API2::Qemu（qemu-server，非 pve-manager）+ GUI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– /etc/pve/qemu-server/&lt;vmid&gt;.conf 增 memtier 键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– 执行：DAMOS paddr + memcg 过滤 pageout（今 6.14 可）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– 勿把 guest RAM policy=bind 到慢层（提升永不触发）</a:t>
            </a:r>
          </a:p>
          <a:p>
            <a:pPr lvl="1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– set_mempolicy2 不存在；用 mbind/sysfs 权重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业务规划：具名买家段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先难民 + CSP；信创限定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1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094"/>
                <a:gridCol w="3014691"/>
                <a:gridCol w="5101786"/>
                <a:gridCol w="1043547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买家段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JTBD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主价值杠杆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次序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Broadcom 难民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逃续费又要对等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无按核订阅+迁移安全+产品化分层 [13]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第一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CSP/托管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密度换毛利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按 VM 策略+分层感知放置（CXL 期权首用）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第一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公共部门/信创(限定)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自主可控/capex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开源可审计+无锁定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第二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边缘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小节点多装载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NVMe-swap 密度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第三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• 信创限定：需国产 CPU（鲲鹏/飞腾/龙芯/海光/兆芯）+国产 OS（麒麟/统信，内核 5.10/6.6）→“6.14+ 分层”链条不转移；多无 CXL、CoCo 受限；须过信创目录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• 定价：核心 AGPLv3；分层 GUI/策略须在 AGPL 核心（否则与“不得按核解锁”控标条款自相矛盾）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MVP 价值兑现：FAB + 控标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落到买家的钱；控标给条款语言（非案例）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1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500"/>
                <a:gridCol w="3856155"/>
                <a:gridCol w="5998463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买家段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特性→优势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客户利益（买家货币）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难民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无按核订阅+产品化分层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把 Broadcom 续费差额换成一次性迁移；同硬件对等密度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CSP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按 VM DAMOS+分层感知放置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每宿主多装 VM、内存 $/VM 降、可迁移可运维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信创(限定)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开源可审计、无锁定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自主可控合规、已有硬件多装载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控标（真实案例无法确定，不杜撰）→ 建议条款：内核原生可审计 / 按 VM 策略 / CXL-ready / 不得按核解锁 / 自主可控·供应链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异议应答：无 GUI→正是 MVP；无成熟度→设计伙伴 benchmark；无担责厂商→AGPLv3 企业 SLA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价值度量与对比测试（含与 ESXi 头对头）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无实测→公开材料估算 + 对比测试（意图+预估）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596"/>
                <a:gridCol w="967252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配置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50800" marR="50800" marT="25400" marB="25400" anchor="ctr"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A / B / B-z / C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纯 DRAM / NVMe DAMOS pageout / 叠 zswap / 1:2 配比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CXL + DAMON(paddr) 迁移（demotion/numa_balancing 关，隔离）</a:t>
                      </a:r>
                    </a:p>
                  </a:txBody>
                  <a:tcPr marL="50800" marR="50800" marT="25400" marB="2540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</a:rPr>
                        <a:t>同硬件 ESXi 9 分层 1:1（头对头，验证超越/对等）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38328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• 计数器（源码核验）：NVMe 看 pswpin/out（zswap 时 zswp*）；DAMON 迁移看 pgmigrate/DAMOS stats（不进 pgdemote/pgpromote）；一律按 VM 采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• 估算：介质单价降约 40%–45%（仅采购价，未含电力/磨损/CPU；消费级 [9][10]）；密度理论上限 +100% 实际更低（[1] 仅方向）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F172A"/>
                </a:solidFill>
                <a:latin typeface="Microsoft YaHei"/>
              </a:rPr>
              <a:t>• kill-gate（分门）：M1 判 NVMe（对 ESXi P99≤+15%、密度≥+50%、迁移≤2×）；CXL 门在 M3 单独判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Microsoft YaHei"/>
              </a:rPr>
              <a:t>脚本：scripts/（collect 只读安全；setup/run 默认 dry-run，本地绿色安装 no sudo）。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结论与投资建议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超越靠产品化 + 开源/TCO；CXL 作期权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结论：超越关键不在造/换引擎（两通路内核都有主动机制，NVMe 主动逐冷已被 TMO 生产验证 [16][17]），而在产品化；并在 VMware 结构上无法复制的两点取胜：开源自主可控 + 无按核授权 TCO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投资建议：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</a:rPr>
              <a:t>– 投。2 季度小队做 M1（按 VM DAMOS pageout 产品化+GUI+护栏）并行迁移/HA 感知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</a:rPr>
              <a:t>– 先打难民 + CSP（CSP 为 CXL 期权首用）；信创限定第二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</a:rPr>
              <a:t>– 决策门第~3 月按 M1（含对 ESXi 头对头）判；CXL 门 M3 单独判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Microsoft YaHei"/>
              </a:rPr>
              <a:t>– 不投的代价：把难民让给 Nutanix/OpenShift Virt/Harvester/国产 HCI，错过 DRAM 高价 ROI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真实价值仍需与 ESXi 头对头实测检验；本报告为已纠错的投入判断，非承诺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参考资料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[8] 用户提供未核验；[9][10] 消费级价格；机制经 v6.14 源码核验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[1] Broadcom TechDocs — Memory Tiering over NVMe (vSphere 9.1)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[2] VMware Cloud Foundation Blog — Memory Tiering TP (8.0U3, 4:1)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[3] Lenovo Press LP2288 — Memory Tiering on ESXi 9.0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[4] Proxmox VE Wiki — Dynamic Memory Management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[5] Steve Scargall — Kernel Tiering with CXL (2024-05, 博客)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[6] LWN — Weighted interleaving (6.9 据 kernelnewbies)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[7] LWN(lore) — DAMON tiered memory (11%→3–5% 执行时间)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[8] 用户线索 — OSDI 2026（已核验：OSDI'26/RamRyder/MAC/MDK；NEMO/OBASE 命名存疑）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[9] Stanford DAM — Memory Prices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[10] RAM vs SSD Price Trends（消费级，波动大）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[11] Liu, Hadian, Xu, Berger, Li — Dissecting CXL Memory Performance at Scale (arXiv:2409.14317)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[12] LWN — Recent work in memory tiering (2026-09; pghot/memcg)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[13] The Register — Broadcom 停永久授权/免费 ESXi (2024; KB 309138)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[14] Tom's Hardware — Intel 结束 Optane (2022-07)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[15] Proxmox — PVE 9.0 (2025-08, 内核 6.14)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[16] Linux 内核文档 v6.14/6.17 — DAMON/DAMON_RECLAIM/memory.reclaim（源码核验）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[17] Weiner 等 — TMO (ASPLOS'22)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[18] Yellow-Bricks — vSphere Memory Tiering FAQ (2026-07)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[19] Proxmox — PVE 9.2 (2026-05, 内核 7.0) + Kernel wiki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[20] Equilibria: Fair Multi-Tenant CXL Memory Tiering at Scale (arXiv:2602.08800)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[21] Managing Memory Tiers with CXL in Virtualized Environments (Memstrata, OSDI'24, MS)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0F172A"/>
                </a:solidFill>
                <a:latin typeface="Microsoft YaHei"/>
              </a:rPr>
              <a:t>[22] Tiered Memory Management Beyond Hotness (SoarAlto, OSDI'25)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FFFFFF"/>
                </a:solidFill>
                <a:latin typeface="Microsoft YaHei"/>
              </a:rPr>
              <a:t>修订说明与存疑（防幻觉收口）</a:t>
            </a:r>
          </a:p>
          <a:p>
            <a:r>
              <a:rPr sz="1200" b="0">
                <a:solidFill>
                  <a:srgbClr val="C7D2FE"/>
                </a:solidFill>
                <a:latin typeface="Microsoft YaHei"/>
              </a:rPr>
              <a:t>v4 经两轮 7 路对拍；带着问题去核实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v4 方向性纠正：v3“NVMe=机制差距”错——内核源码证明主动逐冷早已存在；差距在产品化（即 v2 判断）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已修事实：set_mempolicy2 不存在、daxctl 不用于 NVMe、DAMON 迁移不计 pgdemote/pgpromote、大页双方都牺牲、vMotion 惩罚对称、VMware GA=9.0、[11] 作者、代次 PVE 9.2/内核 7.0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存疑（待实测）：与 ESXi 头对头 P99/密度=无法确定；KVM guest 上 TPP/DAMON 开销；CXL 硬件可得性与 VMware CXL 路线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存疑：信创目录资格、CoCo 边界、企业级价格比值、非介质 TCO=部分无法确定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• 配置一致实证：第二轮 Fable 5 对拍推翻了 v3 一条核心论点——印证“子代理用主 agent 配置”对质量的实质影响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