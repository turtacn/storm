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icrosoft YaHei"/>
              </a:rPr>
              <a:t>内存分层方向 · Proxmox VE 如何超越 VMware vSphere</a:t>
            </a:r>
          </a:p>
          <a:p>
            <a:r>
              <a:rPr sz="1800" b="0">
                <a:solidFill>
                  <a:srgbClr val="C7D2FE"/>
                </a:solidFill>
                <a:latin typeface="Microsoft YaHei"/>
              </a:rPr>
              <a:t>对标分析与业务/技术规划（v3，经四路 reviewer 对抗式评审）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Microsoft YaHei"/>
              </a:rPr>
              <a:t>由 competitive-analysis harness SOP 生成（storm-research → grilling → report-authoring）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检索：免密钥（keyless）· 事实性内容 [n] 引注 · 估算显式标注 · 无法核验写“无法确定”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对标代次：Proxmox VE 9.0（内核 6.14）对 VMware vSphere / ESXi 9.x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这套 harness SOP 是什么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以价值兑现为主线，把本仓库能力编排成决策级对标分析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问题范式：结合学术热点，针对 YYY 对标 ZZZ，产出差距分析、行动 roadmap、最优价值 MVP 架构、价值兑现（FAB / 客户语言价值 / 控标）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价值主线：阶段零钉“价值假设卡”，每个产物向后溯到目标与真实证据、向前抵达客户价值；不可追溯即淘汰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Microsoft YaHei"/>
              </a:rPr>
              <a:t>• 建立在本项目之上（非空壳方法）：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调研 = storm-research（run_storm_claude → knowledge_storm，默认无授权 DuckDuckGo）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澄清/建模 = grilling / grill-with-docs / domain-modeling；成文 = report-authoring + docs/authoring 标准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治理 = 无授权检索策略；防幻觉与核验（根 CLAUDE.md）；可选逆向 = vendor/reverse-skill（仅授权、仅开源/己方）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SOP 文档：docs/harness-sop/（README、value-realization-model、report-outline）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SOP 七阶段流程与质量门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每阶段设完成标准（DoD）；高价值对标用多 reviewer 对拍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2798064"/>
                <a:gridCol w="1975104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要回答的价值问题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承载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零 目标与价值假设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兑现什么价值、为谁、如何度量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 / domain-modeling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一 范围界定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哪个战场、按什么维度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二 学术与情报调研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有哪些可核验证据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storm-research（无授权）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三 差距分析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哪些差距真正卡价值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report-authoring（表格）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四 行动路线（价值筛选）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什么顺序最快兑现价值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价值密度打分 + 里程碑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五 MVP 架构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哪个最小切片单位投入价值最高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架构图 + 部署图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六 价值兑现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如何转成客户可感知/可买单/可控标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FAB / 客户语言 / 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七 成文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结论能否支撑“如何超越”的决策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223760" y="1234440"/>
            <a:ext cx="45720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• 质量门（DoD）：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不达标不进入下一阶段；不可追溯/无证据/凭感觉一律打回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≥3 具名买家段+JTBD；至少一个买家货币口径数字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控标须给“条款语言”（非仅案例）；MVP 配可证伪假设+kill-gate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机制准确性与代次核对；评分自洽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结论必须回答“YYY 如何超越 ZZZ”+业务/技术规划+投资建议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多 reviewer 对拍：技术深度/产品价值/证据严谨/架构可行 并行对抗式评审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案例：目标、意图与价值假设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XXX=内存分层 · YYY=Proxmox VE · ZZZ=VMware vSphere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885139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要素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业务目标与意图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回答 Proxmox 如何在内存分层超越 VMware，并给业务/技术规划，支撑“是否投入/投多少/先打谁”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受益者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迁移难民 · 公共部门/信创 · CSP/托管 · 边缘/电信（见业务规划）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价值主张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更低成本慢层安全扩容、提密度降 TCO；以开源自主可控 + CXL 原生分层建立结构性差异化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度量口径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分 NVMe-swap 与 CXL-NUMA 两通路给先导/滞后指标（见价值度量）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价值主线：后续每一节都要能追溯回这张“价值假设卡”。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机制真相与代次校准（v3 关键修正）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两条通路机制不同，必须分别评估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39"/>
                <a:gridCol w="4507653"/>
                <a:gridCol w="4712546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慢层介质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Linux 机制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CXL / PMem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主动 NUMA 分层：TPP / DAMON / 降级·提升 / 加权交织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被内核当作内存 NUMA 节点 [5][6][7]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NVMe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被动 swap / zswap（缺页触发、软件 PTE）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块设备，daxctl 不适用；与 TPP/DAMON 无关 [5][12]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代次校准：加权交织（内核 6.9）、DAMON 迁移（6.11）在 PVE 8.x 的 6.8 内核不具备；应以 PVE 9.0（内核 6.14，2025-08）对 vSphere 9.x [15]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VMware Memory Tiering over NVMe：DRAM Tier0 + 本地 NVMe Tier1，默认 1:1、每分层分区上限 4 TB、默认关闭、启用需维护模式 [1]；8.0U3 为 Tech Preview [2]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含义：NVMe 上 VMware 是“主动分层引擎”，Linux 只有“被动 swap”——这是机制差距，不是包装差距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纠正 v1/v2 的事实错误：NVMe≠NUMA 节点、降级≠写 NVMe、代次错配。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学术研究热点及其对设计的含义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OSDI 2026 · 用户提供、未独立核验 [8]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314"/>
                <a:gridCol w="3757666"/>
                <a:gridCol w="5845258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论文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切入点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对本设计的含义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RamRyder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通道作分配单位，带宽≠容量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警示：加权交织是带宽聚合，不能当冷页下沉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MAC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元数据掉进慢 CXL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慢层不宜承载元数据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NEMO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观测太粗/太贵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MVP 观测应低开销、可按层/按 VM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OBASE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冷热对象混页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页级有上限；对象级布局属远期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MDK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目标应是 SLO 下长期省内存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采纳：DAMOS 目标设为 promotion-rate/SLO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本节整理自用户提供材料 [8]，未独立核验；不额外引申材料未涵盖的细节。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内核视角：Linux 内存分层 历史·现状·演进·预测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内存管理绝大部分来自内核——一等分析源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历史：脱胎于 NUMA 均衡与页回收；引入源自 Meta 的 TPP、DAMON、降级/提升 [5][7]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现状（截至 2026-09）：显式内存层 + 加权交织(6.9) + DAMON 迁移(6.11) + CXL 经 daxctl 映射 NUMA；在研 pghot、分层感知内存 cgroup [12]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关键缺口：NVMe 作主动内存分层的上游工作不存在，NVMe 仍是 swap-only [12]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演进/预测（推断）：自调优 + CXL 原生 + 更细的层级/对象/按 VM 治理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</a:rPr>
              <a:t>• 结构性差异：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– Proxmox 基于 Linux，免费继承内核 CXL-first 分层上游（VMware 目前仅本地 NVMe）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– VMware ESXi 用自研 vmkernel（非 Linux），须自建；但它确实率先把 NVMe 主动分层做到 GA（硬币另一面）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差距分析（按两条通路）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PVE 9.0（内核 6.14）对 vSphere 9.x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451"/>
                <a:gridCol w="3680875"/>
                <a:gridCol w="3680875"/>
                <a:gridCol w="2453917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Proxmox VE 9.0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VMware vSphere 9.x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差距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NVMe 通路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被动 swap/zswap，无主动引擎 [5][12]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主动 hypervisor 分层 1:1/4TB [1]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机制差距（非包装）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CXL 通路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主动 NUMA 分层（6.14 具备）[6][7]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当前未见 CXL 原生 [1]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Proxmox 领先，硬件早期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易用性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手工 sysfs，无 GUI [5]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图形化+默认护栏 [1]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近期核心短板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热迁移/集群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迁移需读回慢层页，缺分层感知调度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vMotion/DRS/HA 分层感知 [1]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VMware 护城河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成本/授权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 AGPLv3，无按核授权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商业订阅（Broadcom）[13]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Proxmox TCO 顺风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另有：大页/THP、故障域/安全/vNUMA/KSM 维度（详见报告）。一句话：NVMe 机制落后，CXL 引擎领先。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如何超越：换战场，不硬追 NVMe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Proxmox 超越 VMware 的四条战线 + 时机窗口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• 超越论点（ZZZ 结构上难以跟随）：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① CXL 原生分层领先：骑内核 CXL-first 上游，VMware 当前仅本地 NVMe [1]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② DAMON 自调优 + 可观测（采纳 MDK 的 SLO 目标）[8]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③ 开源自主可控：源码可审计、无断供风险——VMware 结构上无法对标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④ 无按核授权 TCO：把 Broadcom 经常性账单换成一次性迁移 [13]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• why-now（同一 18 个月窗口三力叠加）：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Broadcom 终止永久授权/转订阅/一度停免费 ESXi → 迁移潮 [13]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2025–2026 DRAM 涨价 → 分层 ROI 周期高点 [9][10]；内核分层随 PVE 9 成熟 [15]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具名对手（抢同一批难民）：Nutanix / OpenShift Virtualization / XCP-ng / Harvester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行动路线与最优价值 MVP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价值密度筛选 + Proxmox 真实集成点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60350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60"/>
                <a:gridCol w="3091118"/>
                <a:gridCol w="14719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里程碑（自 2026-10）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定位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M1 (2月)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swap 调优模板+护栏+GUI（NVMe）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MVP 近期切片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M2 (3月)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VM 级策略 cgroup/mempolicy + API/GUI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中期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M3 (4月)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CXL 原生分层 + DAMOS SLO 策略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超越核心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M4 (3月)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集群分层感知 + 热迁移协同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远期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0" y="1280160"/>
            <a:ext cx="5120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• MVP 架构集成点（非空盒子）：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pve-manager + PVE::API2 面板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/etc/pve/qemu-server/&lt;vmid&gt;.conf 增 memtier 键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执行：cgroup v2 memory.high/swap.max；CXL 走 QEMU memory-backend host-nodes / mbind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守护进程读 DAMON sysfs + PSI，写 DAMOS + cgroup 上限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双通路分别落地（纠正把 TPP/DAMON 画在 NVMe 上的错误）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业务规划：具名买家段与打法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先难民 + 信创，后 CSP；与 KVM 同类竞速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4481"/>
                <a:gridCol w="3374136"/>
                <a:gridCol w="4723790"/>
                <a:gridCol w="1124712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待办任务（JTBD）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主价值杠杆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次序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逃续费又不丢能力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GUI 一键+迁移安全+无按核订阅 [13]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公共部门/信创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自主可控、capex 受限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开源可审计+规避断供+多装载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CSP/托管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密度换毛利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每 VM 成本+多租户 P99 隔离+自调优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边缘/电信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小节点多装载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小节点 NVMe-swap 密度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定价：核心开源（AGPLv3），企业订阅=源码+支持+验证，锚定“比 Broadcom 续费便宜且可预期”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设计伙伴：各段 1–2 家，用其数据把估算变实测并作背书；护城河=CXL 原生 + 自主可控 + 贴内核上游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MVP 价值兑现：FAB 价值链 + 控标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落到买家的钱；控标给条款语言（非案例）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3190"/>
                <a:gridCol w="3749040"/>
                <a:gridCol w="6174889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特性→优势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客户利益（买家货币）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DAMON 自调优+按 VM 策略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每宿主多装 VM、内存 $/VM 下降、租户 P99 可观测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难民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GUI 一键+迁移路径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把 Broadcom 涨价账单换成一次性迁移，密度不降级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信创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开源可审计+CXL-ready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已有硬件多装载、规避断供、合规达标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40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控标（真实案例：无法确定，不杜撰）→ 给“建议差异化条款语言”（须结合真实招标校准）：内核原生 / CXL-ready 介质开放 / 自调优可观测 / 无授权锁定 / 自主可控·供应链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异议应答：无 GUI→正是 MVP；无成熟度→设计伙伴 benchmark 作证据；无担责厂商→AGPLv3 企业订阅，反问“涨价的担责厂商担住预算了吗”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价值度量与对比测试设计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无实测环境 → 公开材料估算 + 对比测试（意图+预估）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0496"/>
                <a:gridCol w="2565132"/>
                <a:gridCol w="3354404"/>
                <a:gridCol w="3157086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价值假设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目标/预估（估算）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依据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降介质成本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介质每 GB 单价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1:1 下约 −40%〜−45%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(0.5+0.5r)，r≈1/5–1/10 [9][10]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提升密度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可用内存/VM 密度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理论上限 +100%、实际更低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[1] 仅支持方向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不伤 SLO(NVMe)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关键负载 P99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待实测（勿用 [7]）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NVMe µs 级换入主导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不伤 SLO(CXL)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P99 / promotion-rate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CXL 140–410ns、尾延迟高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[11]；[7] 是执行时间非 P99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对比测试：A 纯 DRAM / B NVMe-swap 1:1 / C 1:2 / D CXL-NUMA；逼出分层（mem= 或 memory.high）；按 VM 采集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计数器分通路：NVMe 看 pswpin/out，CXL 看 pgdemote/pgpromote + promotion-rate；增设热迁移、THP 两维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判定门：P99 增幅 ≤ +15% 且 密度 ≥ +50% 且 介质单价降 ≥ 20%，三者同过（阈值待基线校准）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脚本骨架：scripts/（collect-metrics 只读安全；setup-tiers/run-bench 默认 dry-run）。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结论与投资建议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答案：换战场超越，而非在 NVMe 上追平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结论：Proxmox 超越 VMware 不靠在 NVMe 上追平其主动分层（机制劣势），而靠 CXL 原生分层 + 开源自主可控 + 无按核授权 TCO，卡准 Broadcom 迁移潮与 DRAM 涨价窗口；NVMe 以“更便宜的够用密度”作近期滩头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• 投资建议：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决策：投。近期 2 季度小队（M1+M2），先打难民 + 信创；CXL 原生（M3）作超越核心分期投入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预期回报：难民=续费差额转一次性迁移；信创=自主可控合规+硬件多装载；CSP=每 VM 成本与密度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决策门（约第 3 月）：设计伙伴达 kill-gate 阈值则加倍并推 GA+验证；否则收缩或止损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不投的代价：把难民与信创窗口让给 Nutanix/XCP-ng/OpenShift Virt/Harvester，错过 DRAM 高价 ROI 窗口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真实价值仍需实测检验；本报告为有据可依、已修正机制错误的投入判断，非结论性承诺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参考资料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独立核验来源正常引注；[8] 用户提供未核验；[9][10] 消费级价格仅作数量级参考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[1] Broadcom TechDocs — Memory Tiering over NVMe (vSphere 9.1)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[2] VMware Cloud Foundation Blog — Memory Tiering Tech Preview (8.0U3, 2024-07-18)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[3] Lenovo Press — Memory Tiering over NVMe on ESXi 9.0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[4] Proxmox VE Wiki — Dynamic Memory Management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[5] Steve Scargall — Linux Kernel Tiering with CXL Memory (2024-05)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[6] LWN — Weighted interleaving for memory tiering (内核 6.9)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[7] LWN — DAMON based tiered memory management for CXL memory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[8] 用户提供材料 — OSDI 2026 Day1 Track2 Session1 + 背景综述（未独立核验）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[9] Stanford DAM — Memory Prices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[10] RAM vs SSD Price Trends（消费级市场数据，波动大）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[11] Maruf 等 — Dissecting CXL Memory Performance at Scale (arXiv:2409.14317)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[12] LWN — Recent work in memory tiering (截至 2026-09)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[13] The Register / Broadcom KB 309138 — 终止永久授权、转订阅、停免费 ESXi (2024)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[14] Tom's Hardware — Intel 结束 Optane 业务 (2022-07)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[15] Proxmox — Proxmox VE 9.0 发布 (2025-08-05, Debian 13, 内核 6.14)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存疑与需确认（防幻觉收口）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带着问题去核实，不下结论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NVMe 引擎对等未成立：Linux 上游无 NVMe 主动分层，Proxmox 侧仅被动 swap，与 VMware 主动分层非对等——最需实测的落差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生产成熟度、故障域、热迁移惩罚、THP 交互：部分可查、部分无法确定，须按对比测试实测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价值目标值为基于公开材料的估算：介质单价降幅可推、密度与 P99 待实测；企业级价格比值与非介质 TCO 分项未定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[8] OSDI 材料未独立核验；[9][10] 为消费级价格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本 pptx 内容全部取自已修正的 v3 报告与 SOP（docs/harness-sop/），未新增未经核验的数据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